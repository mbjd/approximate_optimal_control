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f36adea33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f36adea33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Highlight: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f</a:t>
            </a:r>
            <a:r>
              <a:rPr lang="en-GB"/>
              <a:t>, l perfectly known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GB"/>
              <a:t>Horizon infinite, no discount (conditions for existence of sol)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f45e6fb33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f45e6fb33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f36adea33e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f36adea33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f36adea33e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f36adea33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f3cfabd90d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f3cfabd90d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f3cfabd90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f3cfabd90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f3cfabd90d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f3cfabd90d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f3cfabd90d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f3cfabd90d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f3cfabd90d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f3cfabd90d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f3cfabd90d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f3cfabd90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f36adea33e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f36adea33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f36adea33e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f36adea33e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→ where to generate new data?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→ when are we happy w uncertainty? 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f45e6fb335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f45e6fb335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Probably smarter than this mess: here VERY high level overview (what are the goals of the active learning things?)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Then in the algo exposé later, say what the different components do. But also skip over unimportant details.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Not more detail!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f4d1bb8306_5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f4d1bb8306_5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f45e6fb335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f45e6fb335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Axis labels everytime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f51c6e03fd_1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f51c6e03fd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Axis labels everytime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f51c6e03fd_1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f51c6e03fd_1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Axis labels everytime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f51c6e03fd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f51c6e03fd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f51c6e03fd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f51c6e03fd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f51c6e03fd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2f51c6e03fd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f51c6e03fd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f51c6e03fd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f45e6fb335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2f45e6fb335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Make each line appear separately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Think about max 3 sentences to describe each line.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Maybe this slide just too much doe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f51c6e03fd_1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f51c6e03fd_1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f51c6e03fd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2f51c6e03fd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f45e6fb335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2f45e6fb335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Before this: slide that introduces toy system?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Skip over 2d system entirely? (thinking yes. It does not convey additional important points) 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urce-serif-them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urce Serif Pro"/>
              <a:buNone/>
              <a:defRPr sz="2800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Serif Pro"/>
              <a:buChar char="●"/>
              <a:defRPr sz="1800">
                <a:solidFill>
                  <a:schemeClr val="dk2"/>
                </a:solidFill>
                <a:latin typeface="Source Serif Pro"/>
                <a:ea typeface="Source Serif Pro"/>
                <a:cs typeface="Source Serif Pro"/>
                <a:sym typeface="Source Serif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erif Pro"/>
              <a:buChar char="○"/>
              <a:defRPr>
                <a:solidFill>
                  <a:schemeClr val="dk2"/>
                </a:solidFill>
                <a:latin typeface="Source Serif Pro"/>
                <a:ea typeface="Source Serif Pro"/>
                <a:cs typeface="Source Serif Pro"/>
                <a:sym typeface="Source Serif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erif Pro"/>
              <a:buChar char="■"/>
              <a:defRPr>
                <a:solidFill>
                  <a:schemeClr val="dk2"/>
                </a:solidFill>
                <a:latin typeface="Source Serif Pro"/>
                <a:ea typeface="Source Serif Pro"/>
                <a:cs typeface="Source Serif Pro"/>
                <a:sym typeface="Source Serif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erif Pro"/>
              <a:buChar char="●"/>
              <a:defRPr>
                <a:solidFill>
                  <a:schemeClr val="dk2"/>
                </a:solidFill>
                <a:latin typeface="Source Serif Pro"/>
                <a:ea typeface="Source Serif Pro"/>
                <a:cs typeface="Source Serif Pro"/>
                <a:sym typeface="Source Serif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erif Pro"/>
              <a:buChar char="○"/>
              <a:defRPr>
                <a:solidFill>
                  <a:schemeClr val="dk2"/>
                </a:solidFill>
                <a:latin typeface="Source Serif Pro"/>
                <a:ea typeface="Source Serif Pro"/>
                <a:cs typeface="Source Serif Pro"/>
                <a:sym typeface="Source Serif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erif Pro"/>
              <a:buChar char="■"/>
              <a:defRPr>
                <a:solidFill>
                  <a:schemeClr val="dk2"/>
                </a:solidFill>
                <a:latin typeface="Source Serif Pro"/>
                <a:ea typeface="Source Serif Pro"/>
                <a:cs typeface="Source Serif Pro"/>
                <a:sym typeface="Source Serif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erif Pro"/>
              <a:buChar char="●"/>
              <a:defRPr>
                <a:solidFill>
                  <a:schemeClr val="dk2"/>
                </a:solidFill>
                <a:latin typeface="Source Serif Pro"/>
                <a:ea typeface="Source Serif Pro"/>
                <a:cs typeface="Source Serif Pro"/>
                <a:sym typeface="Source Serif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erif Pro"/>
              <a:buChar char="○"/>
              <a:defRPr>
                <a:solidFill>
                  <a:schemeClr val="dk2"/>
                </a:solidFill>
                <a:latin typeface="Source Serif Pro"/>
                <a:ea typeface="Source Serif Pro"/>
                <a:cs typeface="Source Serif Pro"/>
                <a:sym typeface="Source Serif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erif Pro"/>
              <a:buChar char="■"/>
              <a:defRPr>
                <a:solidFill>
                  <a:schemeClr val="dk2"/>
                </a:solidFill>
                <a:latin typeface="Source Serif Pro"/>
                <a:ea typeface="Source Serif Pro"/>
                <a:cs typeface="Source Serif Pro"/>
                <a:sym typeface="Source Serif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Relationship Id="rId4" Type="http://schemas.openxmlformats.org/officeDocument/2006/relationships/image" Target="../media/image22.png"/><Relationship Id="rId9" Type="http://schemas.openxmlformats.org/officeDocument/2006/relationships/image" Target="../media/image25.png"/><Relationship Id="rId5" Type="http://schemas.openxmlformats.org/officeDocument/2006/relationships/image" Target="../media/image20.png"/><Relationship Id="rId6" Type="http://schemas.openxmlformats.org/officeDocument/2006/relationships/image" Target="../media/image24.png"/><Relationship Id="rId7" Type="http://schemas.openxmlformats.org/officeDocument/2006/relationships/image" Target="../media/image21.png"/><Relationship Id="rId8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Continuous-Time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Approximate Dynamic Programming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as an Active Learning Problem</a:t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311700" y="2834125"/>
            <a:ext cx="8520600" cy="10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59595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Master Thesis presentation</a:t>
            </a:r>
            <a:endParaRPr sz="1800">
              <a:solidFill>
                <a:srgbClr val="595959"/>
              </a:solidFill>
              <a:latin typeface="Source Serif Pro"/>
              <a:ea typeface="Source Serif Pro"/>
              <a:cs typeface="Source Serif Pro"/>
              <a:sym typeface="Source Serif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59595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Balduin Dettling</a:t>
            </a:r>
            <a:endParaRPr sz="1800">
              <a:solidFill>
                <a:srgbClr val="595959"/>
              </a:solidFill>
              <a:latin typeface="Source Serif Pro"/>
              <a:ea typeface="Source Serif Pro"/>
              <a:cs typeface="Source Serif Pro"/>
              <a:sym typeface="Source Serif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59595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Supervision: Lenart Treven, Bhavya Sukhija, Andreas Krause, Florian Dörfler</a:t>
            </a:r>
            <a:endParaRPr sz="1800">
              <a:solidFill>
                <a:srgbClr val="595959"/>
              </a:solidFill>
              <a:latin typeface="Source Serif Pro"/>
              <a:ea typeface="Source Serif Pro"/>
              <a:cs typeface="Source Serif Pro"/>
              <a:sym typeface="Source Serif Pro"/>
            </a:endParaRPr>
          </a:p>
        </p:txBody>
      </p:sp>
      <p:pic>
        <p:nvPicPr>
          <p:cNvPr descr="https://las.inf.ethz.ch/wp-content/uploads/2015/10/logo1.png"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4007" y="163650"/>
            <a:ext cx="1548850" cy="325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control.ee.ethz.ch/_jcr_content/orgbox/image.imageformat.logo.85532982.png"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82784" y="137424"/>
            <a:ext cx="1200941" cy="40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Optimal Control </a:t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0275" y="2095424"/>
            <a:ext cx="4523451" cy="20353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11700" y="1152475"/>
            <a:ext cx="8520600" cy="8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For a dynamical system </a:t>
            </a:r>
            <a:r>
              <a:rPr i="1" lang="en-GB"/>
              <a:t>ẋ = f (x, u)</a:t>
            </a:r>
            <a:r>
              <a:rPr lang="en-GB"/>
              <a:t>, find:                   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Optimal Control Theory Crash Course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Problem is solved by </a:t>
            </a:r>
            <a:r>
              <a:rPr i="1" lang="en-GB"/>
              <a:t>value function</a:t>
            </a:r>
            <a:r>
              <a:rPr lang="en-GB"/>
              <a:t> </a:t>
            </a:r>
            <a:r>
              <a:rPr i="1" lang="en-GB"/>
              <a:t>V(x)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Optimal input recovered from value gradient </a:t>
            </a:r>
            <a:r>
              <a:rPr i="1" lang="en-GB"/>
              <a:t>V</a:t>
            </a:r>
            <a:r>
              <a:rPr baseline="-25000" i="1" lang="en-GB"/>
              <a:t>x</a:t>
            </a:r>
            <a:r>
              <a:rPr i="1" lang="en-GB"/>
              <a:t>(x)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i="1" lang="en-GB"/>
              <a:t>V</a:t>
            </a:r>
            <a:r>
              <a:rPr lang="en-GB"/>
              <a:t> is the </a:t>
            </a:r>
            <a:r>
              <a:rPr i="1" lang="en-GB"/>
              <a:t>viscosity solution</a:t>
            </a:r>
            <a:r>
              <a:rPr lang="en-GB"/>
              <a:t> the HJB equation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Locally optimal trajectories: PMP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Numerical methods for Optimal Control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Trajectory optimisation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Only locally optimal solution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Accurate approximation of continuous-time solution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“Dynamic Programming”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As in: Find V that satisfies HJB equation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G</a:t>
            </a:r>
            <a:r>
              <a:rPr i="1" lang="en-GB"/>
              <a:t>lobal</a:t>
            </a:r>
            <a:r>
              <a:rPr lang="en-GB"/>
              <a:t> optimality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Practical methods immature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pSp>
        <p:nvGrpSpPr>
          <p:cNvPr id="77" name="Google Shape;77;p16"/>
          <p:cNvGrpSpPr/>
          <p:nvPr/>
        </p:nvGrpSpPr>
        <p:grpSpPr>
          <a:xfrm>
            <a:off x="1256150" y="1780500"/>
            <a:ext cx="4303100" cy="1083750"/>
            <a:chOff x="1256150" y="1780500"/>
            <a:chExt cx="4303100" cy="1083750"/>
          </a:xfrm>
        </p:grpSpPr>
        <p:sp>
          <p:nvSpPr>
            <p:cNvPr id="78" name="Google Shape;78;p16"/>
            <p:cNvSpPr/>
            <p:nvPr/>
          </p:nvSpPr>
          <p:spPr>
            <a:xfrm>
              <a:off x="1257550" y="1780500"/>
              <a:ext cx="4301700" cy="292500"/>
            </a:xfrm>
            <a:prstGeom prst="rect">
              <a:avLst/>
            </a:prstGeom>
            <a:noFill/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Source Serif Pro"/>
                <a:ea typeface="Source Serif Pro"/>
                <a:cs typeface="Source Serif Pro"/>
                <a:sym typeface="Source Serif Pro"/>
              </a:endParaRPr>
            </a:p>
          </p:txBody>
        </p:sp>
        <p:sp>
          <p:nvSpPr>
            <p:cNvPr id="79" name="Google Shape;79;p16"/>
            <p:cNvSpPr/>
            <p:nvPr/>
          </p:nvSpPr>
          <p:spPr>
            <a:xfrm>
              <a:off x="1256150" y="2571750"/>
              <a:ext cx="1485900" cy="292500"/>
            </a:xfrm>
            <a:prstGeom prst="rect">
              <a:avLst/>
            </a:prstGeom>
            <a:noFill/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Source Serif Pro"/>
                <a:ea typeface="Source Serif Pro"/>
                <a:cs typeface="Source Serif Pro"/>
                <a:sym typeface="Source Serif Pro"/>
              </a:endParaRPr>
            </a:p>
          </p:txBody>
        </p:sp>
      </p:grpSp>
      <p:grpSp>
        <p:nvGrpSpPr>
          <p:cNvPr id="80" name="Google Shape;80;p16"/>
          <p:cNvGrpSpPr/>
          <p:nvPr/>
        </p:nvGrpSpPr>
        <p:grpSpPr>
          <a:xfrm>
            <a:off x="2742050" y="1926750"/>
            <a:ext cx="5283175" cy="1782675"/>
            <a:chOff x="2742050" y="1926750"/>
            <a:chExt cx="5283175" cy="1782675"/>
          </a:xfrm>
        </p:grpSpPr>
        <p:cxnSp>
          <p:nvCxnSpPr>
            <p:cNvPr id="81" name="Google Shape;81;p16"/>
            <p:cNvCxnSpPr>
              <a:stCxn id="78" idx="3"/>
              <a:endCxn id="82" idx="0"/>
            </p:cNvCxnSpPr>
            <p:nvPr/>
          </p:nvCxnSpPr>
          <p:spPr>
            <a:xfrm>
              <a:off x="5559250" y="1926750"/>
              <a:ext cx="1301700" cy="1209900"/>
            </a:xfrm>
            <a:prstGeom prst="bentConnector2">
              <a:avLst/>
            </a:prstGeom>
            <a:noFill/>
            <a:ln cap="flat" cmpd="sng" w="19050">
              <a:solidFill>
                <a:srgbClr val="6AA84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83" name="Google Shape;83;p16"/>
            <p:cNvCxnSpPr>
              <a:stCxn id="79" idx="3"/>
              <a:endCxn id="82" idx="0"/>
            </p:cNvCxnSpPr>
            <p:nvPr/>
          </p:nvCxnSpPr>
          <p:spPr>
            <a:xfrm>
              <a:off x="2742050" y="2718000"/>
              <a:ext cx="4119000" cy="418800"/>
            </a:xfrm>
            <a:prstGeom prst="bentConnector2">
              <a:avLst/>
            </a:prstGeom>
            <a:noFill/>
            <a:ln cap="flat" cmpd="sng" w="19050">
              <a:solidFill>
                <a:srgbClr val="6AA84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2" name="Google Shape;82;p16"/>
            <p:cNvSpPr/>
            <p:nvPr/>
          </p:nvSpPr>
          <p:spPr>
            <a:xfrm>
              <a:off x="5696625" y="3136725"/>
              <a:ext cx="2328600" cy="572700"/>
            </a:xfrm>
            <a:prstGeom prst="rect">
              <a:avLst/>
            </a:prstGeom>
            <a:noFill/>
            <a:ln cap="flat" cmpd="sng" w="1905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Source Serif Pro"/>
                  <a:ea typeface="Source Serif Pro"/>
                  <a:cs typeface="Source Serif Pro"/>
                  <a:sym typeface="Source Serif Pro"/>
                </a:rPr>
                <a:t>Goal: Practical numerical method that does both </a:t>
              </a:r>
              <a:endParaRPr>
                <a:latin typeface="Source Serif Pro"/>
                <a:ea typeface="Source Serif Pro"/>
                <a:cs typeface="Source Serif Pro"/>
                <a:sym typeface="Source Serif Pro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Global Optimality in continuous time? </a:t>
            </a:r>
            <a:endParaRPr/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Decompose problem: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Generate large set of </a:t>
            </a:r>
            <a:r>
              <a:rPr i="1" lang="en-GB"/>
              <a:t>locally</a:t>
            </a:r>
            <a:r>
              <a:rPr lang="en-GB"/>
              <a:t> optimal trajectories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Extract approximate knowledge of </a:t>
            </a:r>
            <a:r>
              <a:rPr i="1" lang="en-GB"/>
              <a:t>globally</a:t>
            </a:r>
            <a:r>
              <a:rPr lang="en-GB"/>
              <a:t> optimal control law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Pontryagin’s Minimum Principle</a:t>
            </a:r>
            <a:endParaRPr/>
          </a:p>
        </p:txBody>
      </p:sp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Trajectory Generation</a:t>
            </a:r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8100" y="2039950"/>
            <a:ext cx="6347800" cy="16531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8"/>
          <p:cNvSpPr/>
          <p:nvPr/>
        </p:nvSpPr>
        <p:spPr>
          <a:xfrm>
            <a:off x="1092725" y="3065925"/>
            <a:ext cx="7203300" cy="1459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Serif Pro"/>
              <a:ea typeface="Source Serif Pro"/>
              <a:cs typeface="Source Serif Pro"/>
              <a:sym typeface="Source Serif Pro"/>
            </a:endParaRPr>
          </a:p>
        </p:txBody>
      </p:sp>
      <p:sp>
        <p:nvSpPr>
          <p:cNvPr id="98" name="Google Shape;98;p18"/>
          <p:cNvSpPr/>
          <p:nvPr/>
        </p:nvSpPr>
        <p:spPr>
          <a:xfrm>
            <a:off x="1140225" y="2039950"/>
            <a:ext cx="7203300" cy="1459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Serif Pro"/>
              <a:ea typeface="Source Serif Pro"/>
              <a:cs typeface="Source Serif Pro"/>
              <a:sym typeface="Source Serif Pr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Trajectory Generation</a:t>
            </a:r>
            <a:endParaRPr/>
          </a:p>
        </p:txBody>
      </p:sp>
      <p:pic>
        <p:nvPicPr>
          <p:cNvPr id="104" name="Google Shape;104;p19"/>
          <p:cNvPicPr preferRelativeResize="0"/>
          <p:nvPr/>
        </p:nvPicPr>
        <p:blipFill rotWithShape="1">
          <a:blip r:embed="rId3">
            <a:alphaModFix/>
          </a:blip>
          <a:srcRect b="0" l="49418" r="0" t="0"/>
          <a:stretch/>
        </p:blipFill>
        <p:spPr>
          <a:xfrm>
            <a:off x="2132687" y="1017725"/>
            <a:ext cx="4878624" cy="385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Trajectory Generation</a:t>
            </a:r>
            <a:endParaRPr/>
          </a:p>
        </p:txBody>
      </p:sp>
      <p:pic>
        <p:nvPicPr>
          <p:cNvPr id="110" name="Google Shape;110;p20"/>
          <p:cNvPicPr preferRelativeResize="0"/>
          <p:nvPr/>
        </p:nvPicPr>
        <p:blipFill rotWithShape="1">
          <a:blip r:embed="rId3">
            <a:alphaModFix/>
          </a:blip>
          <a:srcRect b="0" l="49418" r="0" t="0"/>
          <a:stretch/>
        </p:blipFill>
        <p:spPr>
          <a:xfrm>
            <a:off x="2132687" y="1017725"/>
            <a:ext cx="4878624" cy="385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Trajectory Generation</a:t>
            </a:r>
            <a:endParaRPr/>
          </a:p>
        </p:txBody>
      </p:sp>
      <p:pic>
        <p:nvPicPr>
          <p:cNvPr id="116" name="Google Shape;116;p21"/>
          <p:cNvPicPr preferRelativeResize="0"/>
          <p:nvPr/>
        </p:nvPicPr>
        <p:blipFill rotWithShape="1">
          <a:blip r:embed="rId3">
            <a:alphaModFix/>
          </a:blip>
          <a:srcRect b="0" l="49418" r="0" t="0"/>
          <a:stretch/>
        </p:blipFill>
        <p:spPr>
          <a:xfrm>
            <a:off x="2132687" y="1017725"/>
            <a:ext cx="4878624" cy="385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Trajectory Generation</a:t>
            </a:r>
            <a:endParaRPr/>
          </a:p>
        </p:txBody>
      </p:sp>
      <p:pic>
        <p:nvPicPr>
          <p:cNvPr id="122" name="Google Shape;122;p22"/>
          <p:cNvPicPr preferRelativeResize="0"/>
          <p:nvPr/>
        </p:nvPicPr>
        <p:blipFill rotWithShape="1">
          <a:blip r:embed="rId3">
            <a:alphaModFix/>
          </a:blip>
          <a:srcRect b="0" l="49418" r="0" t="0"/>
          <a:stretch/>
        </p:blipFill>
        <p:spPr>
          <a:xfrm>
            <a:off x="2132687" y="1017725"/>
            <a:ext cx="4878624" cy="385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Trajectory Generation</a:t>
            </a:r>
            <a:endParaRPr/>
          </a:p>
        </p:txBody>
      </p:sp>
      <p:pic>
        <p:nvPicPr>
          <p:cNvPr id="128" name="Google Shape;128;p23"/>
          <p:cNvPicPr preferRelativeResize="0"/>
          <p:nvPr/>
        </p:nvPicPr>
        <p:blipFill rotWithShape="1">
          <a:blip r:embed="rId3">
            <a:alphaModFix/>
          </a:blip>
          <a:srcRect b="0" l="49418" r="0" t="0"/>
          <a:stretch/>
        </p:blipFill>
        <p:spPr>
          <a:xfrm>
            <a:off x="2132687" y="1017725"/>
            <a:ext cx="4878624" cy="385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Why value level sets? </a:t>
            </a:r>
            <a:endParaRPr/>
          </a:p>
        </p:txBody>
      </p:sp>
      <p:pic>
        <p:nvPicPr>
          <p:cNvPr id="134" name="Google Shape;13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40187" y="1264975"/>
            <a:ext cx="3463625" cy="3607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40187" y="1264975"/>
            <a:ext cx="3463625" cy="3607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40187" y="1264975"/>
            <a:ext cx="3463625" cy="3607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40187" y="1264975"/>
            <a:ext cx="3463625" cy="3607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840187" y="1264975"/>
            <a:ext cx="3463625" cy="3607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840187" y="1264975"/>
            <a:ext cx="3463625" cy="3607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840187" y="1264975"/>
            <a:ext cx="3463625" cy="3607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 Practice: </a:t>
            </a:r>
            <a:endParaRPr/>
          </a:p>
        </p:txBody>
      </p:sp>
      <p:sp>
        <p:nvSpPr>
          <p:cNvPr id="146" name="Google Shape;146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Finite data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Uncertain function approximation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Ideas from Active Learning</a:t>
            </a:r>
            <a:endParaRPr/>
          </a:p>
        </p:txBody>
      </p:sp>
      <p:sp>
        <p:nvSpPr>
          <p:cNvPr id="152" name="Google Shape;152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Function </a:t>
            </a:r>
            <a:r>
              <a:rPr lang="en-GB"/>
              <a:t>approximation with uncertainty estimate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Simple NN ensemble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Uncertainty sampling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Generate new data point where uncertainty estimate is high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Uncertainty threshold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Every point with uncertainty below threshold is considered “known”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6D “Flat quad” system</a:t>
            </a:r>
            <a:endParaRPr/>
          </a:p>
        </p:txBody>
      </p:sp>
      <p:grpSp>
        <p:nvGrpSpPr>
          <p:cNvPr id="158" name="Google Shape;158;p27"/>
          <p:cNvGrpSpPr/>
          <p:nvPr/>
        </p:nvGrpSpPr>
        <p:grpSpPr>
          <a:xfrm>
            <a:off x="1927516" y="1989813"/>
            <a:ext cx="3039311" cy="1253201"/>
            <a:chOff x="3146716" y="1913613"/>
            <a:chExt cx="3039311" cy="1253201"/>
          </a:xfrm>
        </p:grpSpPr>
        <p:cxnSp>
          <p:nvCxnSpPr>
            <p:cNvPr id="159" name="Google Shape;159;p27"/>
            <p:cNvCxnSpPr/>
            <p:nvPr/>
          </p:nvCxnSpPr>
          <p:spPr>
            <a:xfrm flipH="1" rot="10800000">
              <a:off x="3416275" y="1998408"/>
              <a:ext cx="174600" cy="5850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0" name="Google Shape;160;p27"/>
            <p:cNvCxnSpPr/>
            <p:nvPr/>
          </p:nvCxnSpPr>
          <p:spPr>
            <a:xfrm rot="10800000">
              <a:off x="5517941" y="2569064"/>
              <a:ext cx="0" cy="6105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61" name="Google Shape;161;p27"/>
            <p:cNvSpPr txBox="1"/>
            <p:nvPr/>
          </p:nvSpPr>
          <p:spPr>
            <a:xfrm>
              <a:off x="5579727" y="2517344"/>
              <a:ext cx="6063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u</a:t>
              </a:r>
              <a:r>
                <a:rPr baseline="-25000" lang="en-GB" sz="1800">
                  <a:solidFill>
                    <a:srgbClr val="FF0000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2</a:t>
              </a:r>
              <a:endParaRPr baseline="-25000" sz="1800">
                <a:solidFill>
                  <a:srgbClr val="FF0000"/>
                </a:solidFill>
                <a:latin typeface="Source Serif Pro"/>
                <a:ea typeface="Source Serif Pro"/>
                <a:cs typeface="Source Serif Pro"/>
                <a:sym typeface="Source Serif Pro"/>
              </a:endParaRPr>
            </a:p>
          </p:txBody>
        </p:sp>
        <p:sp>
          <p:nvSpPr>
            <p:cNvPr id="162" name="Google Shape;162;p27"/>
            <p:cNvSpPr txBox="1"/>
            <p:nvPr/>
          </p:nvSpPr>
          <p:spPr>
            <a:xfrm>
              <a:off x="3146716" y="1913613"/>
              <a:ext cx="5058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u</a:t>
              </a:r>
              <a:r>
                <a:rPr baseline="-25000" lang="en-GB" sz="1800">
                  <a:solidFill>
                    <a:srgbClr val="FF0000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1</a:t>
              </a:r>
              <a:endParaRPr baseline="-25000" sz="1800">
                <a:solidFill>
                  <a:srgbClr val="FF0000"/>
                </a:solidFill>
                <a:latin typeface="Source Serif Pro"/>
                <a:ea typeface="Source Serif Pro"/>
                <a:cs typeface="Source Serif Pro"/>
                <a:sym typeface="Source Serif Pro"/>
              </a:endParaRPr>
            </a:p>
          </p:txBody>
        </p:sp>
      </p:grpSp>
      <p:grpSp>
        <p:nvGrpSpPr>
          <p:cNvPr id="163" name="Google Shape;163;p27"/>
          <p:cNvGrpSpPr/>
          <p:nvPr/>
        </p:nvGrpSpPr>
        <p:grpSpPr>
          <a:xfrm>
            <a:off x="3167493" y="3009827"/>
            <a:ext cx="877911" cy="650273"/>
            <a:chOff x="4386693" y="2933627"/>
            <a:chExt cx="877911" cy="650273"/>
          </a:xfrm>
        </p:grpSpPr>
        <p:cxnSp>
          <p:nvCxnSpPr>
            <p:cNvPr id="164" name="Google Shape;164;p27"/>
            <p:cNvCxnSpPr/>
            <p:nvPr/>
          </p:nvCxnSpPr>
          <p:spPr>
            <a:xfrm rot="10800000">
              <a:off x="4386693" y="2933627"/>
              <a:ext cx="0" cy="6105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165" name="Google Shape;165;p27"/>
            <p:cNvSpPr txBox="1"/>
            <p:nvPr/>
          </p:nvSpPr>
          <p:spPr>
            <a:xfrm>
              <a:off x="4417705" y="3202900"/>
              <a:ext cx="846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rgbClr val="FF0000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mg</a:t>
              </a:r>
              <a:endParaRPr baseline="-25000" sz="1800">
                <a:solidFill>
                  <a:srgbClr val="FF0000"/>
                </a:solidFill>
                <a:latin typeface="Source Serif Pro"/>
                <a:ea typeface="Source Serif Pro"/>
                <a:cs typeface="Source Serif Pro"/>
                <a:sym typeface="Source Serif Pro"/>
              </a:endParaRPr>
            </a:p>
          </p:txBody>
        </p:sp>
      </p:grpSp>
      <p:grpSp>
        <p:nvGrpSpPr>
          <p:cNvPr id="166" name="Google Shape;166;p27"/>
          <p:cNvGrpSpPr/>
          <p:nvPr/>
        </p:nvGrpSpPr>
        <p:grpSpPr>
          <a:xfrm>
            <a:off x="1220750" y="1624332"/>
            <a:ext cx="3025652" cy="2402518"/>
            <a:chOff x="2439950" y="1548132"/>
            <a:chExt cx="3025652" cy="2402518"/>
          </a:xfrm>
        </p:grpSpPr>
        <p:grpSp>
          <p:nvGrpSpPr>
            <p:cNvPr id="167" name="Google Shape;167;p27"/>
            <p:cNvGrpSpPr/>
            <p:nvPr/>
          </p:nvGrpSpPr>
          <p:grpSpPr>
            <a:xfrm>
              <a:off x="2439950" y="1740862"/>
              <a:ext cx="3025652" cy="2209788"/>
              <a:chOff x="2439950" y="1740862"/>
              <a:chExt cx="3025652" cy="2209788"/>
            </a:xfrm>
          </p:grpSpPr>
          <p:sp>
            <p:nvSpPr>
              <p:cNvPr id="168" name="Google Shape;168;p27"/>
              <p:cNvSpPr/>
              <p:nvPr/>
            </p:nvSpPr>
            <p:spPr>
              <a:xfrm rot="997032">
                <a:off x="3347011" y="2828161"/>
                <a:ext cx="2147382" cy="112382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Source Serif Pro"/>
                  <a:ea typeface="Source Serif Pro"/>
                  <a:cs typeface="Source Serif Pro"/>
                  <a:sym typeface="Source Serif Pro"/>
                </a:endParaRPr>
              </a:p>
            </p:txBody>
          </p:sp>
          <p:sp>
            <p:nvSpPr>
              <p:cNvPr id="169" name="Google Shape;169;p27"/>
              <p:cNvSpPr/>
              <p:nvPr/>
            </p:nvSpPr>
            <p:spPr>
              <a:xfrm rot="1051534">
                <a:off x="4494670" y="2190482"/>
                <a:ext cx="17932" cy="687683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Source Serif Pro"/>
                  <a:ea typeface="Source Serif Pro"/>
                  <a:cs typeface="Source Serif Pro"/>
                  <a:sym typeface="Source Serif Pro"/>
                </a:endParaRPr>
              </a:p>
            </p:txBody>
          </p:sp>
          <p:sp>
            <p:nvSpPr>
              <p:cNvPr id="170" name="Google Shape;170;p27"/>
              <p:cNvSpPr txBox="1"/>
              <p:nvPr/>
            </p:nvSpPr>
            <p:spPr>
              <a:xfrm>
                <a:off x="4359075" y="1740862"/>
                <a:ext cx="543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  <a:latin typeface="Source Serif Pro"/>
                    <a:ea typeface="Source Serif Pro"/>
                    <a:cs typeface="Source Serif Pro"/>
                    <a:sym typeface="Source Serif Pro"/>
                  </a:rPr>
                  <a:t>θ</a:t>
                </a:r>
                <a:r>
                  <a:rPr lang="en-GB" sz="1800">
                    <a:solidFill>
                      <a:schemeClr val="dk1"/>
                    </a:solidFill>
                    <a:latin typeface="Source Serif Pro"/>
                    <a:ea typeface="Source Serif Pro"/>
                    <a:cs typeface="Source Serif Pro"/>
                    <a:sym typeface="Source Serif Pro"/>
                  </a:rPr>
                  <a:t>, θ</a:t>
                </a:r>
                <a:r>
                  <a:rPr lang="en-GB" sz="1800">
                    <a:solidFill>
                      <a:schemeClr val="dk1"/>
                    </a:solidFill>
                    <a:latin typeface="Source Serif Pro"/>
                    <a:ea typeface="Source Serif Pro"/>
                    <a:cs typeface="Source Serif Pro"/>
                    <a:sym typeface="Source Serif Pro"/>
                  </a:rPr>
                  <a:t> </a:t>
                </a:r>
                <a:endParaRPr baseline="-25000" sz="1800">
                  <a:solidFill>
                    <a:schemeClr val="dk1"/>
                  </a:solidFill>
                  <a:latin typeface="Source Serif Pro"/>
                  <a:ea typeface="Source Serif Pro"/>
                  <a:cs typeface="Source Serif Pro"/>
                  <a:sym typeface="Source Serif Pro"/>
                </a:endParaRPr>
              </a:p>
            </p:txBody>
          </p:sp>
          <p:cxnSp>
            <p:nvCxnSpPr>
              <p:cNvPr id="171" name="Google Shape;171;p27"/>
              <p:cNvCxnSpPr/>
              <p:nvPr/>
            </p:nvCxnSpPr>
            <p:spPr>
              <a:xfrm flipH="1" rot="10800000">
                <a:off x="2735300" y="3811300"/>
                <a:ext cx="608400" cy="3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172" name="Google Shape;172;p27"/>
              <p:cNvCxnSpPr/>
              <p:nvPr/>
            </p:nvCxnSpPr>
            <p:spPr>
              <a:xfrm flipH="1" rot="5400000">
                <a:off x="2431250" y="3506950"/>
                <a:ext cx="608400" cy="3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73" name="Google Shape;173;p27"/>
              <p:cNvSpPr/>
              <p:nvPr/>
            </p:nvSpPr>
            <p:spPr>
              <a:xfrm rot="57290">
                <a:off x="4396970" y="2181394"/>
                <a:ext cx="18002" cy="687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Source Serif Pro"/>
                  <a:ea typeface="Source Serif Pro"/>
                  <a:cs typeface="Source Serif Pro"/>
                  <a:sym typeface="Source Serif Pro"/>
                </a:endParaRPr>
              </a:p>
            </p:txBody>
          </p:sp>
          <p:sp>
            <p:nvSpPr>
              <p:cNvPr id="174" name="Google Shape;174;p27"/>
              <p:cNvSpPr/>
              <p:nvPr/>
            </p:nvSpPr>
            <p:spPr>
              <a:xfrm>
                <a:off x="3890645" y="2242701"/>
                <a:ext cx="1049100" cy="1126200"/>
              </a:xfrm>
              <a:prstGeom prst="arc">
                <a:avLst>
                  <a:gd fmla="val 16200000" name="adj1"/>
                  <a:gd fmla="val 17224132" name="adj2"/>
                </a:avLst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Source Serif Pro"/>
                  <a:ea typeface="Source Serif Pro"/>
                  <a:cs typeface="Source Serif Pro"/>
                  <a:sym typeface="Source Serif Pro"/>
                </a:endParaRPr>
              </a:p>
            </p:txBody>
          </p:sp>
          <p:sp>
            <p:nvSpPr>
              <p:cNvPr id="175" name="Google Shape;175;p27"/>
              <p:cNvSpPr txBox="1"/>
              <p:nvPr/>
            </p:nvSpPr>
            <p:spPr>
              <a:xfrm>
                <a:off x="3311453" y="3569650"/>
                <a:ext cx="7863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  <a:latin typeface="Source Serif Pro"/>
                    <a:ea typeface="Source Serif Pro"/>
                    <a:cs typeface="Source Serif Pro"/>
                    <a:sym typeface="Source Serif Pro"/>
                  </a:rPr>
                  <a:t>x</a:t>
                </a:r>
                <a:r>
                  <a:rPr lang="en-GB" sz="1800">
                    <a:solidFill>
                      <a:schemeClr val="dk1"/>
                    </a:solidFill>
                    <a:latin typeface="Source Serif Pro"/>
                    <a:ea typeface="Source Serif Pro"/>
                    <a:cs typeface="Source Serif Pro"/>
                    <a:sym typeface="Source Serif Pro"/>
                  </a:rPr>
                  <a:t>, x</a:t>
                </a:r>
                <a:endParaRPr baseline="-25000" sz="1800">
                  <a:solidFill>
                    <a:schemeClr val="dk1"/>
                  </a:solidFill>
                  <a:latin typeface="Source Serif Pro"/>
                  <a:ea typeface="Source Serif Pro"/>
                  <a:cs typeface="Source Serif Pro"/>
                  <a:sym typeface="Source Serif Pro"/>
                </a:endParaRPr>
              </a:p>
            </p:txBody>
          </p:sp>
          <p:sp>
            <p:nvSpPr>
              <p:cNvPr id="176" name="Google Shape;176;p27"/>
              <p:cNvSpPr txBox="1"/>
              <p:nvPr/>
            </p:nvSpPr>
            <p:spPr>
              <a:xfrm>
                <a:off x="2439950" y="2731200"/>
                <a:ext cx="7863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solidFill>
                      <a:schemeClr val="dk1"/>
                    </a:solidFill>
                    <a:latin typeface="Source Serif Pro"/>
                    <a:ea typeface="Source Serif Pro"/>
                    <a:cs typeface="Source Serif Pro"/>
                    <a:sym typeface="Source Serif Pro"/>
                  </a:rPr>
                  <a:t>y</a:t>
                </a:r>
                <a:r>
                  <a:rPr lang="en-GB" sz="1800">
                    <a:solidFill>
                      <a:schemeClr val="dk1"/>
                    </a:solidFill>
                    <a:latin typeface="Source Serif Pro"/>
                    <a:ea typeface="Source Serif Pro"/>
                    <a:cs typeface="Source Serif Pro"/>
                    <a:sym typeface="Source Serif Pro"/>
                  </a:rPr>
                  <a:t>, y</a:t>
                </a:r>
                <a:endParaRPr baseline="-25000" sz="1800">
                  <a:solidFill>
                    <a:schemeClr val="dk1"/>
                  </a:solidFill>
                  <a:latin typeface="Source Serif Pro"/>
                  <a:ea typeface="Source Serif Pro"/>
                  <a:cs typeface="Source Serif Pro"/>
                  <a:sym typeface="Source Serif Pro"/>
                </a:endParaRPr>
              </a:p>
            </p:txBody>
          </p:sp>
        </p:grpSp>
        <p:sp>
          <p:nvSpPr>
            <p:cNvPr id="177" name="Google Shape;177;p27"/>
            <p:cNvSpPr txBox="1"/>
            <p:nvPr/>
          </p:nvSpPr>
          <p:spPr>
            <a:xfrm>
              <a:off x="3578920" y="3430035"/>
              <a:ext cx="7863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.</a:t>
              </a:r>
              <a:endParaRPr baseline="-25000" sz="1800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endParaRPr>
            </a:p>
          </p:txBody>
        </p:sp>
        <p:sp>
          <p:nvSpPr>
            <p:cNvPr id="178" name="Google Shape;178;p27"/>
            <p:cNvSpPr txBox="1"/>
            <p:nvPr/>
          </p:nvSpPr>
          <p:spPr>
            <a:xfrm>
              <a:off x="2682924" y="2596132"/>
              <a:ext cx="7863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.</a:t>
              </a:r>
              <a:endParaRPr baseline="-25000" sz="1800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endParaRPr>
            </a:p>
          </p:txBody>
        </p:sp>
        <p:sp>
          <p:nvSpPr>
            <p:cNvPr id="179" name="Google Shape;179;p27"/>
            <p:cNvSpPr txBox="1"/>
            <p:nvPr/>
          </p:nvSpPr>
          <p:spPr>
            <a:xfrm>
              <a:off x="4613146" y="1548132"/>
              <a:ext cx="7863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  <a:t>.</a:t>
              </a:r>
              <a:endParaRPr baseline="-25000" sz="1800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endParaRPr>
            </a:p>
          </p:txBody>
        </p:sp>
      </p:grpSp>
      <p:sp>
        <p:nvSpPr>
          <p:cNvPr id="180" name="Google Shape;180;p27"/>
          <p:cNvSpPr txBox="1"/>
          <p:nvPr/>
        </p:nvSpPr>
        <p:spPr>
          <a:xfrm>
            <a:off x="5403250" y="1624325"/>
            <a:ext cx="3088200" cy="11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erif Pro"/>
              <a:buChar char="●"/>
            </a:pPr>
            <a:r>
              <a:rPr i="1" lang="en-GB" sz="1800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θ  → </a:t>
            </a:r>
            <a:r>
              <a:rPr lang="en-GB" sz="1800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(</a:t>
            </a:r>
            <a:r>
              <a:rPr lang="en-GB" sz="1800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sin </a:t>
            </a:r>
            <a:r>
              <a:rPr i="1" lang="en-GB" sz="1800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θ</a:t>
            </a:r>
            <a:r>
              <a:rPr lang="en-GB" sz="1800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, cos </a:t>
            </a:r>
            <a:r>
              <a:rPr i="1" lang="en-GB" sz="1800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θ</a:t>
            </a:r>
            <a:r>
              <a:rPr lang="en-GB" sz="1800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) to avoid wrapping</a:t>
            </a:r>
            <a:endParaRPr sz="1800">
              <a:solidFill>
                <a:schemeClr val="dk1"/>
              </a:solidFill>
              <a:latin typeface="Source Serif Pro"/>
              <a:ea typeface="Source Serif Pro"/>
              <a:cs typeface="Source Serif Pro"/>
              <a:sym typeface="Source Serif Pr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erif Pro"/>
              <a:buChar char="●"/>
            </a:pPr>
            <a:r>
              <a:rPr lang="en-GB" sz="1800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6D submanifold of ℝ</a:t>
            </a:r>
            <a:r>
              <a:rPr baseline="30000" lang="en-GB" sz="1800">
                <a:solidFill>
                  <a:schemeClr val="dk1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7</a:t>
            </a:r>
            <a:endParaRPr baseline="30000" sz="1800">
              <a:solidFill>
                <a:schemeClr val="dk1"/>
              </a:solidFill>
              <a:latin typeface="Source Serif Pro"/>
              <a:ea typeface="Source Serif Pro"/>
              <a:cs typeface="Source Serif Pro"/>
              <a:sym typeface="Source Serif Pr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Results (6D system)</a:t>
            </a:r>
            <a:endParaRPr/>
          </a:p>
        </p:txBody>
      </p:sp>
      <p:pic>
        <p:nvPicPr>
          <p:cNvPr id="186" name="Google Shape;18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98725"/>
            <a:ext cx="8839204" cy="31938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1398725"/>
            <a:ext cx="8839204" cy="31938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2400" y="1398725"/>
            <a:ext cx="8839204" cy="31938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Results (6D system)</a:t>
            </a:r>
            <a:endParaRPr/>
          </a:p>
        </p:txBody>
      </p:sp>
      <p:pic>
        <p:nvPicPr>
          <p:cNvPr id="194" name="Google Shape;19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398725"/>
            <a:ext cx="8839204" cy="31938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Results (6D system)</a:t>
            </a:r>
            <a:endParaRPr/>
          </a:p>
        </p:txBody>
      </p:sp>
      <p:pic>
        <p:nvPicPr>
          <p:cNvPr id="200" name="Google Shape;20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398725"/>
            <a:ext cx="8839204" cy="31938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Conclusions</a:t>
            </a:r>
            <a:endParaRPr/>
          </a:p>
        </p:txBody>
      </p:sp>
      <p:sp>
        <p:nvSpPr>
          <p:cNvPr id="206" name="Google Shape;206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Proposed method does accurately solve continuous-time problems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Accuracy deteriorates where V is nonsmooth and control discontinuous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Further Research: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Function approximation capable of nonsmoothness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More general problem settings (State constraints, robust control, …)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Scalability to larger systems, computational efficiency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Concrete error analysis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2"/>
          <p:cNvSpPr txBox="1"/>
          <p:nvPr>
            <p:ph type="title"/>
          </p:nvPr>
        </p:nvSpPr>
        <p:spPr>
          <a:xfrm>
            <a:off x="3346650" y="2285400"/>
            <a:ext cx="245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Questions? 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4"/>
          <p:cNvSpPr txBox="1"/>
          <p:nvPr>
            <p:ph type="title"/>
          </p:nvPr>
        </p:nvSpPr>
        <p:spPr>
          <a:xfrm>
            <a:off x="3612150" y="2210175"/>
            <a:ext cx="1919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920">
                <a:solidFill>
                  <a:schemeClr val="dk2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Bonus material</a:t>
            </a:r>
            <a:endParaRPr sz="1920">
              <a:solidFill>
                <a:schemeClr val="dk2"/>
              </a:solidFill>
              <a:latin typeface="Source Serif Pro"/>
              <a:ea typeface="Source Serif Pro"/>
              <a:cs typeface="Source Serif Pro"/>
              <a:sym typeface="Source Serif Pro"/>
            </a:endParaRPr>
          </a:p>
        </p:txBody>
      </p:sp>
      <p:pic>
        <p:nvPicPr>
          <p:cNvPr id="223" name="Google Shape;223;p34"/>
          <p:cNvPicPr preferRelativeResize="0"/>
          <p:nvPr/>
        </p:nvPicPr>
        <p:blipFill rotWithShape="1">
          <a:blip r:embed="rId3">
            <a:alphaModFix/>
          </a:blip>
          <a:srcRect b="49297" l="0" r="0" t="0"/>
          <a:stretch/>
        </p:blipFill>
        <p:spPr>
          <a:xfrm>
            <a:off x="1911800" y="2210771"/>
            <a:ext cx="1095852" cy="48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34"/>
          <p:cNvPicPr preferRelativeResize="0"/>
          <p:nvPr/>
        </p:nvPicPr>
        <p:blipFill rotWithShape="1">
          <a:blip r:embed="rId3">
            <a:alphaModFix/>
          </a:blip>
          <a:srcRect b="4738" l="0" r="0" t="49261"/>
          <a:stretch/>
        </p:blipFill>
        <p:spPr>
          <a:xfrm>
            <a:off x="6136350" y="2233112"/>
            <a:ext cx="1095848" cy="436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73461"/>
            <a:ext cx="9144003" cy="4054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2942" y="0"/>
            <a:ext cx="61581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49635"/>
            <a:ext cx="9144003" cy="3844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Results (2D system)</a:t>
            </a:r>
            <a:endParaRPr/>
          </a:p>
        </p:txBody>
      </p:sp>
      <p:sp>
        <p:nvSpPr>
          <p:cNvPr id="245" name="Google Shape;245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6" name="Google Shape;24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23479"/>
            <a:ext cx="9144003" cy="4058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